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Source Han Sans KR" charset="1" panose="020B0400000000000000"/>
      <p:regular r:id="rId16"/>
    </p:embeddedFont>
    <p:embeddedFont>
      <p:font typeface="Noto Sans Kr Bold" charset="1" panose="020B0200000000000000"/>
      <p:regular r:id="rId17"/>
    </p:embeddedFont>
    <p:embeddedFont>
      <p:font typeface="Noto Sans Kr" charset="1" panose="020B02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kopis.or.kr/mob/cs/csReportListView.do?ntt_id=3948" TargetMode="External" Type="http://schemas.openxmlformats.org/officeDocument/2006/relationships/hyperlink"/><Relationship Id="rId11" Target="https://kopis.or.kr/por/stats/perfo/perfoStatsTotal.do?menuId=MNU_00026" TargetMode="External" Type="http://schemas.openxmlformats.org/officeDocument/2006/relationships/hyperlink"/><Relationship Id="rId2" Target="../media/image1.jpeg" Type="http://schemas.openxmlformats.org/officeDocument/2006/relationships/image"/><Relationship Id="rId3" Target="https://www.kopis.or.kr/mob/cs/csReportListView.do?ntt_id=3506&amp;tmpr01=undefined&amp;utm_source=chatgpt.com" TargetMode="External" Type="http://schemas.openxmlformats.org/officeDocument/2006/relationships/hyperlink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https://www.gokams.or.kr/05_know/trends_01.aspx" TargetMode="External" Type="http://schemas.openxmlformats.org/officeDocument/2006/relationships/hyperlink"/><Relationship Id="rId9" Target="https://mcst.go.kr/site/s_policy/dept/deptView.jsp?pDataCD=0417000000&amp;pSeq=2118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8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jpeg" Type="http://schemas.openxmlformats.org/officeDocument/2006/relationships/image"/><Relationship Id="rId4" Target="../media/VAHU7hOXO_A.mp4" Type="http://schemas.openxmlformats.org/officeDocument/2006/relationships/video"/><Relationship Id="rId5" Target="../media/VAHU7hOXO_A.mp4" Type="http://schemas.microsoft.com/office/2007/relationships/media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832289"/>
            <a:ext cx="18288000" cy="12648796"/>
          </a:xfrm>
          <a:custGeom>
            <a:avLst/>
            <a:gdLst/>
            <a:ahLst/>
            <a:cxnLst/>
            <a:rect r="r" b="b" t="t" l="l"/>
            <a:pathLst>
              <a:path h="12648796" w="18288000">
                <a:moveTo>
                  <a:pt x="0" y="0"/>
                </a:moveTo>
                <a:lnTo>
                  <a:pt x="18288000" y="0"/>
                </a:lnTo>
                <a:lnTo>
                  <a:pt x="18288000" y="12648795"/>
                </a:lnTo>
                <a:lnTo>
                  <a:pt x="0" y="12648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1889" y="-196682"/>
            <a:ext cx="13641023" cy="6287615"/>
          </a:xfrm>
          <a:custGeom>
            <a:avLst/>
            <a:gdLst/>
            <a:ahLst/>
            <a:cxnLst/>
            <a:rect r="r" b="b" t="t" l="l"/>
            <a:pathLst>
              <a:path h="6287615" w="13641023">
                <a:moveTo>
                  <a:pt x="0" y="0"/>
                </a:moveTo>
                <a:lnTo>
                  <a:pt x="13641022" y="0"/>
                </a:lnTo>
                <a:lnTo>
                  <a:pt x="13641022" y="6287616"/>
                </a:lnTo>
                <a:lnTo>
                  <a:pt x="0" y="6287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237" r="0" b="-4237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55097" y="3083818"/>
            <a:ext cx="8532903" cy="7184416"/>
          </a:xfrm>
          <a:custGeom>
            <a:avLst/>
            <a:gdLst/>
            <a:ahLst/>
            <a:cxnLst/>
            <a:rect r="r" b="b" t="t" l="l"/>
            <a:pathLst>
              <a:path h="7184416" w="8532903">
                <a:moveTo>
                  <a:pt x="8532903" y="0"/>
                </a:moveTo>
                <a:lnTo>
                  <a:pt x="0" y="0"/>
                </a:lnTo>
                <a:lnTo>
                  <a:pt x="0" y="7184416"/>
                </a:lnTo>
                <a:lnTo>
                  <a:pt x="8532903" y="7184416"/>
                </a:lnTo>
                <a:lnTo>
                  <a:pt x="8532903" y="0"/>
                </a:lnTo>
                <a:close/>
              </a:path>
            </a:pathLst>
          </a:custGeom>
          <a:blipFill>
            <a:blip r:embed="rId4"/>
            <a:stretch>
              <a:fillRect l="-2519" t="0" r="-2519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40905" y="5649945"/>
            <a:ext cx="10897849" cy="43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1"/>
              </a:lnSpc>
              <a:spcBef>
                <a:spcPct val="0"/>
              </a:spcBef>
            </a:pPr>
            <a:r>
              <a:rPr lang="en-US" sz="2608">
                <a:solidFill>
                  <a:srgbClr val="4757B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행사의 모든 순간,필요한 도움이 제때 되도록.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2339" y="8560744"/>
            <a:ext cx="1590018" cy="98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6"/>
              </a:lnSpc>
            </a:pPr>
            <a:r>
              <a:rPr lang="en-US" sz="1426" b="true">
                <a:solidFill>
                  <a:srgbClr val="427BF3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po  강지민</a:t>
            </a:r>
          </a:p>
          <a:p>
            <a:pPr algn="l">
              <a:lnSpc>
                <a:spcPts val="1996"/>
              </a:lnSpc>
            </a:pPr>
            <a:r>
              <a:rPr lang="en-US" sz="1426" b="true">
                <a:solidFill>
                  <a:srgbClr val="427BF3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PE  서찬우</a:t>
            </a:r>
          </a:p>
          <a:p>
            <a:pPr algn="l">
              <a:lnSpc>
                <a:spcPts val="1996"/>
              </a:lnSpc>
            </a:pPr>
            <a:r>
              <a:rPr lang="en-US" sz="1426" b="true">
                <a:solidFill>
                  <a:srgbClr val="427BF3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BE  박경원,박제형</a:t>
            </a:r>
          </a:p>
          <a:p>
            <a:pPr algn="l">
              <a:lnSpc>
                <a:spcPts val="1996"/>
              </a:lnSpc>
              <a:spcBef>
                <a:spcPct val="0"/>
              </a:spcBef>
            </a:pPr>
            <a:r>
              <a:rPr lang="en-US" b="true" sz="1426">
                <a:solidFill>
                  <a:srgbClr val="427BF3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ui  한다나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272" y="9436206"/>
            <a:ext cx="3227266" cy="478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6"/>
              </a:lnSpc>
            </a:pPr>
          </a:p>
          <a:p>
            <a:pPr algn="ctr">
              <a:lnSpc>
                <a:spcPts val="1996"/>
              </a:lnSpc>
              <a:spcBef>
                <a:spcPct val="0"/>
              </a:spcBef>
            </a:pPr>
            <a:r>
              <a:rPr lang="en-US" b="true" sz="1426">
                <a:solidFill>
                  <a:srgbClr val="427BF3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저 오늘 생일입니다. 축하해주세요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63049" y="6618876"/>
            <a:ext cx="4481215" cy="1011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4"/>
              </a:lnSpc>
            </a:pPr>
            <a:r>
              <a:rPr lang="en-US" sz="2931">
                <a:solidFill>
                  <a:srgbClr val="4757B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사람,공간,상황을 연결하는</a:t>
            </a:r>
          </a:p>
          <a:p>
            <a:pPr algn="l">
              <a:lnSpc>
                <a:spcPts val="4104"/>
              </a:lnSpc>
              <a:spcBef>
                <a:spcPct val="0"/>
              </a:spcBef>
            </a:pPr>
            <a:r>
              <a:rPr lang="en-US" sz="2931">
                <a:solidFill>
                  <a:srgbClr val="4757B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행사 현장 운영 플랫폼 oncue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511793" cy="12803581"/>
          </a:xfrm>
          <a:custGeom>
            <a:avLst/>
            <a:gdLst/>
            <a:ahLst/>
            <a:cxnLst/>
            <a:rect r="r" b="b" t="t" l="l"/>
            <a:pathLst>
              <a:path h="12803581" w="18511793">
                <a:moveTo>
                  <a:pt x="0" y="0"/>
                </a:moveTo>
                <a:lnTo>
                  <a:pt x="18511793" y="0"/>
                </a:lnTo>
                <a:lnTo>
                  <a:pt x="18511793" y="12803581"/>
                </a:lnTo>
                <a:lnTo>
                  <a:pt x="0" y="128035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6919" y="2727729"/>
            <a:ext cx="17117955" cy="5702419"/>
          </a:xfrm>
          <a:custGeom>
            <a:avLst/>
            <a:gdLst/>
            <a:ahLst/>
            <a:cxnLst/>
            <a:rect r="r" b="b" t="t" l="l"/>
            <a:pathLst>
              <a:path h="5702419" w="17117955">
                <a:moveTo>
                  <a:pt x="0" y="0"/>
                </a:moveTo>
                <a:lnTo>
                  <a:pt x="17117955" y="0"/>
                </a:lnTo>
                <a:lnTo>
                  <a:pt x="17117955" y="5702418"/>
                </a:lnTo>
                <a:lnTo>
                  <a:pt x="0" y="5702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42975"/>
            <a:ext cx="2959745" cy="74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2"/>
              </a:lnSpc>
              <a:spcBef>
                <a:spcPct val="0"/>
              </a:spcBef>
            </a:pPr>
            <a:r>
              <a:rPr lang="en-US" b="true" sz="4373">
                <a:solidFill>
                  <a:srgbClr val="3173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hlinkClick r:id="rId3" tooltip="https://www.kopis.or.kr/mob/cs/csReportListView.do?ntt_id=3506&amp;tmpr01=undefined&amp;utm_source=chatgpt.com"/>
          </p:cNvPr>
          <p:cNvSpPr/>
          <p:nvPr/>
        </p:nvSpPr>
        <p:spPr>
          <a:xfrm flipH="false" flipV="false" rot="0">
            <a:off x="0" y="-901663"/>
            <a:ext cx="18288000" cy="12648796"/>
          </a:xfrm>
          <a:custGeom>
            <a:avLst/>
            <a:gdLst/>
            <a:ahLst/>
            <a:cxnLst/>
            <a:rect r="r" b="b" t="t" l="l"/>
            <a:pathLst>
              <a:path h="12648796" w="18288000">
                <a:moveTo>
                  <a:pt x="0" y="0"/>
                </a:moveTo>
                <a:lnTo>
                  <a:pt x="18288000" y="0"/>
                </a:lnTo>
                <a:lnTo>
                  <a:pt x="18288000" y="12648795"/>
                </a:lnTo>
                <a:lnTo>
                  <a:pt x="0" y="12648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352343" y="3425712"/>
            <a:ext cx="5338875" cy="5118522"/>
            <a:chOff x="0" y="0"/>
            <a:chExt cx="1406123" cy="13480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06123" cy="1348088"/>
            </a:xfrm>
            <a:custGeom>
              <a:avLst/>
              <a:gdLst/>
              <a:ahLst/>
              <a:cxnLst/>
              <a:rect r="r" b="b" t="t" l="l"/>
              <a:pathLst>
                <a:path h="1348088" w="1406123">
                  <a:moveTo>
                    <a:pt x="73955" y="0"/>
                  </a:moveTo>
                  <a:lnTo>
                    <a:pt x="1332168" y="0"/>
                  </a:lnTo>
                  <a:cubicBezTo>
                    <a:pt x="1373013" y="0"/>
                    <a:pt x="1406123" y="33111"/>
                    <a:pt x="1406123" y="73955"/>
                  </a:cubicBezTo>
                  <a:lnTo>
                    <a:pt x="1406123" y="1274133"/>
                  </a:lnTo>
                  <a:cubicBezTo>
                    <a:pt x="1406123" y="1314977"/>
                    <a:pt x="1373013" y="1348088"/>
                    <a:pt x="1332168" y="1348088"/>
                  </a:cubicBezTo>
                  <a:lnTo>
                    <a:pt x="73955" y="1348088"/>
                  </a:lnTo>
                  <a:cubicBezTo>
                    <a:pt x="33111" y="1348088"/>
                    <a:pt x="0" y="1314977"/>
                    <a:pt x="0" y="1274133"/>
                  </a:cubicBezTo>
                  <a:lnTo>
                    <a:pt x="0" y="73955"/>
                  </a:lnTo>
                  <a:cubicBezTo>
                    <a:pt x="0" y="33111"/>
                    <a:pt x="33111" y="0"/>
                    <a:pt x="7395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406123" cy="1395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50288" y="3425712"/>
            <a:ext cx="5338875" cy="5118522"/>
            <a:chOff x="0" y="0"/>
            <a:chExt cx="1406123" cy="13480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06123" cy="1348088"/>
            </a:xfrm>
            <a:custGeom>
              <a:avLst/>
              <a:gdLst/>
              <a:ahLst/>
              <a:cxnLst/>
              <a:rect r="r" b="b" t="t" l="l"/>
              <a:pathLst>
                <a:path h="1348088" w="1406123">
                  <a:moveTo>
                    <a:pt x="73955" y="0"/>
                  </a:moveTo>
                  <a:lnTo>
                    <a:pt x="1332168" y="0"/>
                  </a:lnTo>
                  <a:cubicBezTo>
                    <a:pt x="1373013" y="0"/>
                    <a:pt x="1406123" y="33111"/>
                    <a:pt x="1406123" y="73955"/>
                  </a:cubicBezTo>
                  <a:lnTo>
                    <a:pt x="1406123" y="1274133"/>
                  </a:lnTo>
                  <a:cubicBezTo>
                    <a:pt x="1406123" y="1314977"/>
                    <a:pt x="1373013" y="1348088"/>
                    <a:pt x="1332168" y="1348088"/>
                  </a:cubicBezTo>
                  <a:lnTo>
                    <a:pt x="73955" y="1348088"/>
                  </a:lnTo>
                  <a:cubicBezTo>
                    <a:pt x="33111" y="1348088"/>
                    <a:pt x="0" y="1314977"/>
                    <a:pt x="0" y="1274133"/>
                  </a:cubicBezTo>
                  <a:lnTo>
                    <a:pt x="0" y="73955"/>
                  </a:lnTo>
                  <a:cubicBezTo>
                    <a:pt x="0" y="33111"/>
                    <a:pt x="33111" y="0"/>
                    <a:pt x="7395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406123" cy="1395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48234" y="3425712"/>
            <a:ext cx="5338875" cy="5118522"/>
            <a:chOff x="0" y="0"/>
            <a:chExt cx="1406123" cy="13480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06123" cy="1348088"/>
            </a:xfrm>
            <a:custGeom>
              <a:avLst/>
              <a:gdLst/>
              <a:ahLst/>
              <a:cxnLst/>
              <a:rect r="r" b="b" t="t" l="l"/>
              <a:pathLst>
                <a:path h="1348088" w="1406123">
                  <a:moveTo>
                    <a:pt x="73955" y="0"/>
                  </a:moveTo>
                  <a:lnTo>
                    <a:pt x="1332168" y="0"/>
                  </a:lnTo>
                  <a:cubicBezTo>
                    <a:pt x="1373013" y="0"/>
                    <a:pt x="1406123" y="33111"/>
                    <a:pt x="1406123" y="73955"/>
                  </a:cubicBezTo>
                  <a:lnTo>
                    <a:pt x="1406123" y="1274133"/>
                  </a:lnTo>
                  <a:cubicBezTo>
                    <a:pt x="1406123" y="1314977"/>
                    <a:pt x="1373013" y="1348088"/>
                    <a:pt x="1332168" y="1348088"/>
                  </a:cubicBezTo>
                  <a:lnTo>
                    <a:pt x="73955" y="1348088"/>
                  </a:lnTo>
                  <a:cubicBezTo>
                    <a:pt x="33111" y="1348088"/>
                    <a:pt x="0" y="1314977"/>
                    <a:pt x="0" y="1274133"/>
                  </a:cubicBezTo>
                  <a:lnTo>
                    <a:pt x="0" y="73955"/>
                  </a:lnTo>
                  <a:cubicBezTo>
                    <a:pt x="0" y="33111"/>
                    <a:pt x="33111" y="0"/>
                    <a:pt x="7395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406123" cy="1395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4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239880" y="5314672"/>
            <a:ext cx="5037486" cy="2813716"/>
          </a:xfrm>
          <a:custGeom>
            <a:avLst/>
            <a:gdLst/>
            <a:ahLst/>
            <a:cxnLst/>
            <a:rect r="r" b="b" t="t" l="l"/>
            <a:pathLst>
              <a:path h="2813716" w="5037486">
                <a:moveTo>
                  <a:pt x="0" y="0"/>
                </a:moveTo>
                <a:lnTo>
                  <a:pt x="5037486" y="0"/>
                </a:lnTo>
                <a:lnTo>
                  <a:pt x="5037486" y="2813716"/>
                </a:lnTo>
                <a:lnTo>
                  <a:pt x="0" y="28137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69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877634" y="5674074"/>
            <a:ext cx="4532733" cy="2421910"/>
          </a:xfrm>
          <a:custGeom>
            <a:avLst/>
            <a:gdLst/>
            <a:ahLst/>
            <a:cxnLst/>
            <a:rect r="r" b="b" t="t" l="l"/>
            <a:pathLst>
              <a:path h="2421910" w="4532733">
                <a:moveTo>
                  <a:pt x="0" y="0"/>
                </a:moveTo>
                <a:lnTo>
                  <a:pt x="4532732" y="0"/>
                </a:lnTo>
                <a:lnTo>
                  <a:pt x="4532732" y="2421910"/>
                </a:lnTo>
                <a:lnTo>
                  <a:pt x="0" y="24219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0168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352343" y="5478171"/>
            <a:ext cx="5252724" cy="2813716"/>
          </a:xfrm>
          <a:custGeom>
            <a:avLst/>
            <a:gdLst/>
            <a:ahLst/>
            <a:cxnLst/>
            <a:rect r="r" b="b" t="t" l="l"/>
            <a:pathLst>
              <a:path h="2813716" w="5252724">
                <a:moveTo>
                  <a:pt x="0" y="0"/>
                </a:moveTo>
                <a:lnTo>
                  <a:pt x="5252724" y="0"/>
                </a:lnTo>
                <a:lnTo>
                  <a:pt x="5252724" y="2813716"/>
                </a:lnTo>
                <a:lnTo>
                  <a:pt x="0" y="28137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548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39880" y="8928522"/>
            <a:ext cx="5247229" cy="764370"/>
            <a:chOff x="0" y="0"/>
            <a:chExt cx="1079677" cy="1572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9677" cy="157278"/>
            </a:xfrm>
            <a:custGeom>
              <a:avLst/>
              <a:gdLst/>
              <a:ahLst/>
              <a:cxnLst/>
              <a:rect r="r" b="b" t="t" l="l"/>
              <a:pathLst>
                <a:path h="157278" w="1079677">
                  <a:moveTo>
                    <a:pt x="28817" y="0"/>
                  </a:moveTo>
                  <a:lnTo>
                    <a:pt x="1050860" y="0"/>
                  </a:lnTo>
                  <a:cubicBezTo>
                    <a:pt x="1058502" y="0"/>
                    <a:pt x="1065832" y="3036"/>
                    <a:pt x="1071236" y="8440"/>
                  </a:cubicBezTo>
                  <a:cubicBezTo>
                    <a:pt x="1076641" y="13845"/>
                    <a:pt x="1079677" y="21174"/>
                    <a:pt x="1079677" y="28817"/>
                  </a:cubicBezTo>
                  <a:lnTo>
                    <a:pt x="1079677" y="128461"/>
                  </a:lnTo>
                  <a:cubicBezTo>
                    <a:pt x="1079677" y="144376"/>
                    <a:pt x="1066775" y="157278"/>
                    <a:pt x="1050860" y="157278"/>
                  </a:cubicBezTo>
                  <a:lnTo>
                    <a:pt x="28817" y="157278"/>
                  </a:lnTo>
                  <a:cubicBezTo>
                    <a:pt x="12902" y="157278"/>
                    <a:pt x="0" y="144376"/>
                    <a:pt x="0" y="128461"/>
                  </a:cubicBezTo>
                  <a:lnTo>
                    <a:pt x="0" y="28817"/>
                  </a:lnTo>
                  <a:cubicBezTo>
                    <a:pt x="0" y="12902"/>
                    <a:pt x="12902" y="0"/>
                    <a:pt x="28817" y="0"/>
                  </a:cubicBezTo>
                  <a:close/>
                </a:path>
              </a:pathLst>
            </a:custGeom>
            <a:solidFill>
              <a:srgbClr val="427BF3">
                <a:alpha val="19608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079677" cy="2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877634" y="8928522"/>
            <a:ext cx="5211530" cy="764370"/>
            <a:chOff x="0" y="0"/>
            <a:chExt cx="1072331" cy="1572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2331" cy="157278"/>
            </a:xfrm>
            <a:custGeom>
              <a:avLst/>
              <a:gdLst/>
              <a:ahLst/>
              <a:cxnLst/>
              <a:rect r="r" b="b" t="t" l="l"/>
              <a:pathLst>
                <a:path h="157278" w="1072331">
                  <a:moveTo>
                    <a:pt x="29014" y="0"/>
                  </a:moveTo>
                  <a:lnTo>
                    <a:pt x="1043317" y="0"/>
                  </a:lnTo>
                  <a:cubicBezTo>
                    <a:pt x="1051012" y="0"/>
                    <a:pt x="1058392" y="3057"/>
                    <a:pt x="1063833" y="8498"/>
                  </a:cubicBezTo>
                  <a:cubicBezTo>
                    <a:pt x="1069274" y="13939"/>
                    <a:pt x="1072331" y="21319"/>
                    <a:pt x="1072331" y="29014"/>
                  </a:cubicBezTo>
                  <a:lnTo>
                    <a:pt x="1072331" y="128263"/>
                  </a:lnTo>
                  <a:cubicBezTo>
                    <a:pt x="1072331" y="135958"/>
                    <a:pt x="1069274" y="143338"/>
                    <a:pt x="1063833" y="148780"/>
                  </a:cubicBezTo>
                  <a:cubicBezTo>
                    <a:pt x="1058392" y="154221"/>
                    <a:pt x="1051012" y="157278"/>
                    <a:pt x="1043317" y="157278"/>
                  </a:cubicBezTo>
                  <a:lnTo>
                    <a:pt x="29014" y="157278"/>
                  </a:lnTo>
                  <a:cubicBezTo>
                    <a:pt x="21319" y="157278"/>
                    <a:pt x="13939" y="154221"/>
                    <a:pt x="8498" y="148780"/>
                  </a:cubicBezTo>
                  <a:cubicBezTo>
                    <a:pt x="3057" y="143338"/>
                    <a:pt x="0" y="135958"/>
                    <a:pt x="0" y="128263"/>
                  </a:cubicBezTo>
                  <a:lnTo>
                    <a:pt x="0" y="29014"/>
                  </a:lnTo>
                  <a:cubicBezTo>
                    <a:pt x="0" y="21319"/>
                    <a:pt x="3057" y="13939"/>
                    <a:pt x="8498" y="8498"/>
                  </a:cubicBezTo>
                  <a:cubicBezTo>
                    <a:pt x="13939" y="3057"/>
                    <a:pt x="21319" y="0"/>
                    <a:pt x="29014" y="0"/>
                  </a:cubicBezTo>
                  <a:close/>
                </a:path>
              </a:pathLst>
            </a:custGeom>
            <a:solidFill>
              <a:srgbClr val="427BF3">
                <a:alpha val="19608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072331" cy="2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4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479688" y="8876115"/>
            <a:ext cx="5211530" cy="764370"/>
            <a:chOff x="0" y="0"/>
            <a:chExt cx="1072331" cy="15727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2331" cy="157278"/>
            </a:xfrm>
            <a:custGeom>
              <a:avLst/>
              <a:gdLst/>
              <a:ahLst/>
              <a:cxnLst/>
              <a:rect r="r" b="b" t="t" l="l"/>
              <a:pathLst>
                <a:path h="157278" w="1072331">
                  <a:moveTo>
                    <a:pt x="29014" y="0"/>
                  </a:moveTo>
                  <a:lnTo>
                    <a:pt x="1043317" y="0"/>
                  </a:lnTo>
                  <a:cubicBezTo>
                    <a:pt x="1051012" y="0"/>
                    <a:pt x="1058392" y="3057"/>
                    <a:pt x="1063833" y="8498"/>
                  </a:cubicBezTo>
                  <a:cubicBezTo>
                    <a:pt x="1069274" y="13939"/>
                    <a:pt x="1072331" y="21319"/>
                    <a:pt x="1072331" y="29014"/>
                  </a:cubicBezTo>
                  <a:lnTo>
                    <a:pt x="1072331" y="128263"/>
                  </a:lnTo>
                  <a:cubicBezTo>
                    <a:pt x="1072331" y="135958"/>
                    <a:pt x="1069274" y="143338"/>
                    <a:pt x="1063833" y="148780"/>
                  </a:cubicBezTo>
                  <a:cubicBezTo>
                    <a:pt x="1058392" y="154221"/>
                    <a:pt x="1051012" y="157278"/>
                    <a:pt x="1043317" y="157278"/>
                  </a:cubicBezTo>
                  <a:lnTo>
                    <a:pt x="29014" y="157278"/>
                  </a:lnTo>
                  <a:cubicBezTo>
                    <a:pt x="21319" y="157278"/>
                    <a:pt x="13939" y="154221"/>
                    <a:pt x="8498" y="148780"/>
                  </a:cubicBezTo>
                  <a:cubicBezTo>
                    <a:pt x="3057" y="143338"/>
                    <a:pt x="0" y="135958"/>
                    <a:pt x="0" y="128263"/>
                  </a:cubicBezTo>
                  <a:lnTo>
                    <a:pt x="0" y="29014"/>
                  </a:lnTo>
                  <a:cubicBezTo>
                    <a:pt x="0" y="21319"/>
                    <a:pt x="3057" y="13939"/>
                    <a:pt x="8498" y="8498"/>
                  </a:cubicBezTo>
                  <a:cubicBezTo>
                    <a:pt x="13939" y="3057"/>
                    <a:pt x="21319" y="0"/>
                    <a:pt x="29014" y="0"/>
                  </a:cubicBezTo>
                  <a:close/>
                </a:path>
              </a:pathLst>
            </a:custGeom>
            <a:solidFill>
              <a:srgbClr val="FF3030">
                <a:alpha val="19608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072331" cy="2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4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true" flipV="false" rot="0">
            <a:off x="15561248" y="1915179"/>
            <a:ext cx="2156804" cy="1726059"/>
          </a:xfrm>
          <a:custGeom>
            <a:avLst/>
            <a:gdLst/>
            <a:ahLst/>
            <a:cxnLst/>
            <a:rect r="r" b="b" t="t" l="l"/>
            <a:pathLst>
              <a:path h="1726059" w="2156804">
                <a:moveTo>
                  <a:pt x="2156805" y="0"/>
                </a:moveTo>
                <a:lnTo>
                  <a:pt x="0" y="0"/>
                </a:lnTo>
                <a:lnTo>
                  <a:pt x="0" y="1726058"/>
                </a:lnTo>
                <a:lnTo>
                  <a:pt x="2156805" y="1726058"/>
                </a:lnTo>
                <a:lnTo>
                  <a:pt x="2156805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8925978" y="-2220997"/>
            <a:ext cx="11333974" cy="2437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1"/>
              </a:lnSpc>
            </a:pPr>
            <a:r>
              <a:rPr lang="en-US" sz="1550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출처</a:t>
            </a:r>
          </a:p>
          <a:p>
            <a:pPr algn="ctr">
              <a:lnSpc>
                <a:spcPts val="2171"/>
              </a:lnSpc>
            </a:pPr>
            <a:r>
              <a:rPr lang="en-US" sz="1550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원문</a:t>
            </a:r>
          </a:p>
          <a:p>
            <a:pPr algn="ctr" marL="334805" indent="-167402" lvl="1">
              <a:lnSpc>
                <a:spcPts val="2171"/>
              </a:lnSpc>
              <a:buFont typeface="Arial"/>
              <a:buChar char="•"/>
            </a:pPr>
            <a:r>
              <a:rPr lang="en-US" b="true" sz="155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보고서 PDF — http://www.gokams.or.kr/DATA/GO/2025년 공연시장 티켓판매 현황 분석 보고서.pdf</a:t>
            </a:r>
          </a:p>
          <a:p>
            <a:pPr algn="ctr" marL="334805" indent="-167402" lvl="1">
              <a:lnSpc>
                <a:spcPts val="2171"/>
              </a:lnSpc>
              <a:buFont typeface="Arial"/>
              <a:buChar char="•"/>
            </a:pPr>
            <a:r>
              <a:rPr lang="en-US" b="true" sz="155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랜딩 페이지 (각주엔 이쪽 권장)</a:t>
            </a:r>
          </a:p>
          <a:p>
            <a:pPr algn="ctr" marL="669610" indent="-223203" lvl="2">
              <a:lnSpc>
                <a:spcPts val="2171"/>
              </a:lnSpc>
              <a:buFont typeface="Arial"/>
              <a:buChar char="⚬"/>
            </a:pPr>
            <a:r>
              <a:rPr lang="en-US" b="true" sz="155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예술경영지원센터 자료공간 &gt; 동향/분석 자료 — </a:t>
            </a:r>
            <a:r>
              <a:rPr lang="en-US" b="true" sz="1550" u="sng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  <a:hlinkClick r:id="rId8" tooltip="https://www.gokams.or.kr/05_know/trends_01.aspx"/>
              </a:rPr>
              <a:t>https://www.gokams.or.kr/05_know/trends_01.aspx</a:t>
            </a:r>
          </a:p>
          <a:p>
            <a:pPr algn="ctr" marL="669610" indent="-223203" lvl="2">
              <a:lnSpc>
                <a:spcPts val="2171"/>
              </a:lnSpc>
              <a:buFont typeface="Arial"/>
              <a:buChar char="⚬"/>
            </a:pPr>
            <a:r>
              <a:rPr lang="en-US" b="true" sz="155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문화체육관광부 정책자료 — </a:t>
            </a:r>
            <a:r>
              <a:rPr lang="en-US" b="true" sz="1550" u="sng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  <a:hlinkClick r:id="rId9" tooltip="https://mcst.go.kr/site/s_policy/dept/deptView.jsp?pDataCD=0417000000&amp;pSeq=2118"/>
              </a:rPr>
              <a:t>https://mcst.go.kr/site/s_policy/dept/deptView.jsp?pDataCD=0417000000&amp;pSeq=2118</a:t>
            </a:r>
          </a:p>
          <a:p>
            <a:pPr algn="ctr" marL="669610" indent="-223203" lvl="2">
              <a:lnSpc>
                <a:spcPts val="2171"/>
              </a:lnSpc>
              <a:buFont typeface="Arial"/>
              <a:buChar char="⚬"/>
            </a:pPr>
            <a:r>
              <a:rPr lang="en-US" b="true" sz="155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KOPIS 동향보고서 게시판 — </a:t>
            </a:r>
            <a:r>
              <a:rPr lang="en-US" b="true" sz="1550" u="sng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  <a:hlinkClick r:id="rId10" tooltip="https://kopis.or.kr/mob/cs/csReportListView.do?ntt_id=3948"/>
              </a:rPr>
              <a:t>https://kopis.or.kr/mob/cs/csReportListView.do?ntt_id=3948</a:t>
            </a:r>
          </a:p>
          <a:p>
            <a:pPr algn="ctr" marL="334805" indent="-167402" lvl="1">
              <a:lnSpc>
                <a:spcPts val="2171"/>
              </a:lnSpc>
              <a:buFont typeface="Arial"/>
              <a:buChar char="•"/>
            </a:pPr>
            <a:r>
              <a:rPr lang="en-US" b="true" sz="155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연도별 통계 원표 — KOPIS 공연통계 </a:t>
            </a:r>
            <a:r>
              <a:rPr lang="en-US" b="true" sz="1550" u="sng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  <a:hlinkClick r:id="rId11" tooltip="https://kopis.or.kr/por/stats/perfo/perfoStatsTotal.do?menuId=MNU_00026"/>
              </a:rPr>
              <a:t>https://kopis.or.kr/por/stats/perfo/perfoStatsTotal.do?menuId=MNU_00026</a:t>
            </a:r>
          </a:p>
          <a:p>
            <a:pPr algn="ctr">
              <a:lnSpc>
                <a:spcPts val="2171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360438" y="264677"/>
            <a:ext cx="1152823" cy="290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3173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SITUATION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28940" y="178634"/>
            <a:ext cx="363736" cy="405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6"/>
              </a:lnSpc>
              <a:spcBef>
                <a:spcPct val="0"/>
              </a:spcBef>
            </a:pPr>
            <a:r>
              <a:rPr lang="en-US" b="true" sz="2426">
                <a:solidFill>
                  <a:srgbClr val="3173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01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01837" y="283727"/>
            <a:ext cx="53727" cy="230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6"/>
              </a:lnSpc>
              <a:spcBef>
                <a:spcPct val="0"/>
              </a:spcBef>
            </a:pPr>
            <a:r>
              <a:rPr lang="en-US" b="true" sz="1426">
                <a:solidFill>
                  <a:srgbClr val="727BB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|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60363" y="1300629"/>
            <a:ext cx="6759401" cy="1171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4"/>
              </a:lnSpc>
            </a:pPr>
            <a:r>
              <a:rPr lang="en-US" sz="3360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커지는 공연 시장,</a:t>
            </a:r>
          </a:p>
          <a:p>
            <a:pPr algn="l">
              <a:lnSpc>
                <a:spcPts val="4704"/>
              </a:lnSpc>
              <a:spcBef>
                <a:spcPct val="0"/>
              </a:spcBef>
            </a:pPr>
            <a:r>
              <a:rPr lang="en-US" b="true" sz="336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함께 커지는 </a:t>
            </a:r>
            <a:r>
              <a:rPr lang="en-US" b="true" sz="3360">
                <a:solidFill>
                  <a:srgbClr val="0052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안전사고</a:t>
            </a:r>
            <a:r>
              <a:rPr lang="en-US" b="true" sz="336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와 </a:t>
            </a:r>
            <a:r>
              <a:rPr lang="en-US" b="true" sz="3360">
                <a:solidFill>
                  <a:srgbClr val="0052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소통의 어려움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67470" y="3952519"/>
            <a:ext cx="2766864" cy="357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4"/>
              </a:lnSpc>
              <a:spcBef>
                <a:spcPct val="0"/>
              </a:spcBef>
            </a:pPr>
            <a:r>
              <a:rPr lang="en-US" b="true" sz="206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빠르게 성장하는 공연시장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893207" y="3914644"/>
            <a:ext cx="5334059" cy="357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4"/>
              </a:lnSpc>
              <a:spcBef>
                <a:spcPct val="0"/>
              </a:spcBef>
            </a:pPr>
            <a:r>
              <a:rPr lang="en-US" b="true" sz="206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공연과 함께 늘어나는 안전사고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305591" y="3914644"/>
            <a:ext cx="5334059" cy="357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4"/>
              </a:lnSpc>
              <a:spcBef>
                <a:spcPct val="0"/>
              </a:spcBef>
            </a:pPr>
            <a:r>
              <a:rPr lang="en-US" b="true" sz="206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현장은 소통이 어렵습니다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67470" y="4536325"/>
            <a:ext cx="4128885" cy="56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660">
                <a:solidFill>
                  <a:srgbClr val="727BB8"/>
                </a:solidFill>
                <a:latin typeface="Noto Sans Kr"/>
                <a:ea typeface="Noto Sans Kr"/>
                <a:cs typeface="Noto Sans Kr"/>
                <a:sym typeface="Noto Sans Kr"/>
              </a:rPr>
              <a:t>최근 3년간 주요 지표가 크게 증가하며,</a:t>
            </a:r>
          </a:p>
          <a:p>
            <a:pPr algn="l">
              <a:lnSpc>
                <a:spcPts val="2324"/>
              </a:lnSpc>
              <a:spcBef>
                <a:spcPct val="0"/>
              </a:spcBef>
            </a:pPr>
            <a:r>
              <a:rPr lang="en-US" sz="1660">
                <a:solidFill>
                  <a:srgbClr val="727BB8"/>
                </a:solidFill>
                <a:latin typeface="Noto Sans Kr"/>
                <a:ea typeface="Noto Sans Kr"/>
                <a:cs typeface="Noto Sans Kr"/>
                <a:sym typeface="Noto Sans Kr"/>
              </a:rPr>
              <a:t>공연 규모와 관람객이 빠르게 늘고 있습니다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935476" y="4515408"/>
            <a:ext cx="3981004" cy="56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660">
                <a:solidFill>
                  <a:srgbClr val="727BB8"/>
                </a:solidFill>
                <a:latin typeface="Noto Sans Kr"/>
                <a:ea typeface="Noto Sans Kr"/>
                <a:cs typeface="Noto Sans Kr"/>
                <a:sym typeface="Noto Sans Kr"/>
              </a:rPr>
              <a:t>공연,축제 등 인파가 모이는 행사가 증가하면서</a:t>
            </a:r>
          </a:p>
          <a:p>
            <a:pPr algn="l">
              <a:lnSpc>
                <a:spcPts val="2324"/>
              </a:lnSpc>
              <a:spcBef>
                <a:spcPct val="0"/>
              </a:spcBef>
            </a:pPr>
            <a:r>
              <a:rPr lang="en-US" sz="1660">
                <a:solidFill>
                  <a:srgbClr val="727BB8"/>
                </a:solidFill>
                <a:latin typeface="Noto Sans Kr"/>
                <a:ea typeface="Noto Sans Kr"/>
                <a:cs typeface="Noto Sans Kr"/>
                <a:sym typeface="Noto Sans Kr"/>
              </a:rPr>
              <a:t>안전사고의 위험도 함께 커지고 있습니다.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593785" y="4417457"/>
            <a:ext cx="3981004" cy="56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660">
                <a:solidFill>
                  <a:srgbClr val="727BB8"/>
                </a:solidFill>
                <a:latin typeface="Noto Sans Kr"/>
                <a:ea typeface="Noto Sans Kr"/>
                <a:cs typeface="Noto Sans Kr"/>
                <a:sym typeface="Noto Sans Kr"/>
              </a:rPr>
              <a:t>공연 현장은 단기간에 다양한 인력이 투입되며,</a:t>
            </a:r>
          </a:p>
          <a:p>
            <a:pPr algn="l">
              <a:lnSpc>
                <a:spcPts val="2324"/>
              </a:lnSpc>
              <a:spcBef>
                <a:spcPct val="0"/>
              </a:spcBef>
            </a:pPr>
            <a:r>
              <a:rPr lang="en-US" sz="1660">
                <a:solidFill>
                  <a:srgbClr val="727BB8"/>
                </a:solidFill>
                <a:latin typeface="Noto Sans Kr"/>
                <a:ea typeface="Noto Sans Kr"/>
                <a:cs typeface="Noto Sans Kr"/>
                <a:sym typeface="Noto Sans Kr"/>
              </a:rPr>
              <a:t>위치 파악과 신속한 소통이 쉽지 않습니다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60363" y="2648473"/>
            <a:ext cx="5915918" cy="281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4"/>
              </a:lnSpc>
              <a:spcBef>
                <a:spcPct val="0"/>
              </a:spcBef>
            </a:pPr>
            <a:r>
              <a:rPr lang="en-US" sz="1660">
                <a:solidFill>
                  <a:srgbClr val="727BB8"/>
                </a:solidFill>
                <a:latin typeface="Noto Sans Kr"/>
                <a:ea typeface="Noto Sans Kr"/>
                <a:cs typeface="Noto Sans Kr"/>
                <a:sym typeface="Noto Sans Kr"/>
              </a:rPr>
              <a:t>더 많은 사람들이 공연을 즐기는 만큼, 현장은 더 복잡해지고 있습니다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89943" y="3612662"/>
            <a:ext cx="263872" cy="288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4"/>
              </a:lnSpc>
              <a:spcBef>
                <a:spcPct val="0"/>
              </a:spcBef>
            </a:pPr>
            <a:r>
              <a:rPr lang="en-US" b="true" sz="1760">
                <a:solidFill>
                  <a:srgbClr val="0052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01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887159" y="3612662"/>
            <a:ext cx="263872" cy="288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4"/>
              </a:lnSpc>
              <a:spcBef>
                <a:spcPct val="0"/>
              </a:spcBef>
            </a:pPr>
            <a:r>
              <a:rPr lang="en-US" b="true" sz="1760">
                <a:solidFill>
                  <a:srgbClr val="0052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02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593785" y="3612662"/>
            <a:ext cx="263872" cy="288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4"/>
              </a:lnSpc>
              <a:spcBef>
                <a:spcPct val="0"/>
              </a:spcBef>
            </a:pPr>
            <a:r>
              <a:rPr lang="en-US" b="true" sz="1760">
                <a:solidFill>
                  <a:srgbClr val="0052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03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279905" y="9035248"/>
            <a:ext cx="3094583" cy="531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4"/>
              </a:lnSpc>
            </a:pPr>
            <a:r>
              <a:rPr lang="en-US" sz="1560">
                <a:solidFill>
                  <a:srgbClr val="034ADF"/>
                </a:solidFill>
                <a:latin typeface="Noto Sans Kr"/>
                <a:ea typeface="Noto Sans Kr"/>
                <a:cs typeface="Noto Sans Kr"/>
                <a:sym typeface="Noto Sans Kr"/>
              </a:rPr>
              <a:t>공연 건수부터 티켓 판매액까지,</a:t>
            </a:r>
          </a:p>
          <a:p>
            <a:pPr algn="ctr">
              <a:lnSpc>
                <a:spcPts val="2184"/>
              </a:lnSpc>
              <a:spcBef>
                <a:spcPct val="0"/>
              </a:spcBef>
            </a:pPr>
            <a:r>
              <a:rPr lang="en-US" sz="1560">
                <a:solidFill>
                  <a:srgbClr val="034ADF"/>
                </a:solidFill>
                <a:latin typeface="Noto Sans Kr"/>
                <a:ea typeface="Noto Sans Kr"/>
                <a:cs typeface="Noto Sans Kr"/>
                <a:sym typeface="Noto Sans Kr"/>
              </a:rPr>
              <a:t>모든 지표가 꾸준히 증가하고 있습니다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217706" y="9035248"/>
            <a:ext cx="4331163" cy="531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4"/>
              </a:lnSpc>
            </a:pPr>
            <a:r>
              <a:rPr lang="en-US" sz="1560">
                <a:solidFill>
                  <a:srgbClr val="034ADF"/>
                </a:solidFill>
                <a:latin typeface="Noto Sans Kr"/>
                <a:ea typeface="Noto Sans Kr"/>
                <a:cs typeface="Noto Sans Kr"/>
                <a:sym typeface="Noto Sans Kr"/>
              </a:rPr>
              <a:t>행</a:t>
            </a:r>
            <a:r>
              <a:rPr lang="en-US" sz="1560">
                <a:solidFill>
                  <a:srgbClr val="034ADF"/>
                </a:solidFill>
                <a:latin typeface="Noto Sans Kr"/>
                <a:ea typeface="Noto Sans Kr"/>
                <a:cs typeface="Noto Sans Kr"/>
                <a:sym typeface="Noto Sans Kr"/>
              </a:rPr>
              <a:t>사 규모가 커질수록</a:t>
            </a:r>
          </a:p>
          <a:p>
            <a:pPr algn="ctr">
              <a:lnSpc>
                <a:spcPts val="2184"/>
              </a:lnSpc>
              <a:spcBef>
                <a:spcPct val="0"/>
              </a:spcBef>
            </a:pPr>
            <a:r>
              <a:rPr lang="en-US" sz="1560">
                <a:solidFill>
                  <a:srgbClr val="034ADF"/>
                </a:solidFill>
                <a:latin typeface="Noto Sans Kr"/>
                <a:ea typeface="Noto Sans Kr"/>
                <a:cs typeface="Noto Sans Kr"/>
                <a:sym typeface="Noto Sans Kr"/>
              </a:rPr>
              <a:t>현장 안전관리의 중요성도 높아지고 있습니다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939604" y="9014247"/>
            <a:ext cx="6126562" cy="502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1"/>
              </a:lnSpc>
            </a:pPr>
            <a:r>
              <a:rPr lang="en-US" sz="145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공연단체 종사자의 </a:t>
            </a:r>
            <a:r>
              <a:rPr lang="en-US" sz="1451">
                <a:solidFill>
                  <a:srgbClr val="FF3030"/>
                </a:solidFill>
                <a:latin typeface="Noto Sans Kr"/>
                <a:ea typeface="Noto Sans Kr"/>
                <a:cs typeface="Noto Sans Kr"/>
                <a:sym typeface="Noto Sans Kr"/>
              </a:rPr>
              <a:t>80.2%가 비정규직</a:t>
            </a:r>
            <a:r>
              <a:rPr lang="en-US" sz="145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으로, 단기간 투입되는 </a:t>
            </a:r>
          </a:p>
          <a:p>
            <a:pPr algn="ctr">
              <a:lnSpc>
                <a:spcPts val="2031"/>
              </a:lnSpc>
              <a:spcBef>
                <a:spcPct val="0"/>
              </a:spcBef>
            </a:pPr>
            <a:r>
              <a:rPr lang="en-US" sz="145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인력이 많아 현장 위치 파악과 소통에 어려움이 발생합니다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361358" y="8282362"/>
            <a:ext cx="2757413" cy="163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4"/>
              </a:lnSpc>
              <a:spcBef>
                <a:spcPct val="0"/>
              </a:spcBef>
            </a:pPr>
            <a:r>
              <a:rPr lang="en-US" b="true" sz="106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『2025년 공연시장 티켓판매 현황 분석 보고서』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417366" y="8282362"/>
            <a:ext cx="867073" cy="163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4"/>
              </a:lnSpc>
              <a:spcBef>
                <a:spcPct val="0"/>
              </a:spcBef>
            </a:pPr>
            <a:r>
              <a:rPr lang="en-US" b="true" sz="106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문화체육관광부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012950"/>
            <a:ext cx="18288000" cy="12312901"/>
          </a:xfrm>
          <a:custGeom>
            <a:avLst/>
            <a:gdLst/>
            <a:ahLst/>
            <a:cxnLst/>
            <a:rect r="r" b="b" t="t" l="l"/>
            <a:pathLst>
              <a:path h="12312901" w="18288000">
                <a:moveTo>
                  <a:pt x="0" y="0"/>
                </a:moveTo>
                <a:lnTo>
                  <a:pt x="18288000" y="0"/>
                </a:lnTo>
                <a:lnTo>
                  <a:pt x="18288000" y="12312900"/>
                </a:lnTo>
                <a:lnTo>
                  <a:pt x="0" y="12312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63" r="0" b="-1363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932335" y="2538972"/>
            <a:ext cx="7862349" cy="8454914"/>
          </a:xfrm>
          <a:custGeom>
            <a:avLst/>
            <a:gdLst/>
            <a:ahLst/>
            <a:cxnLst/>
            <a:rect r="r" b="b" t="t" l="l"/>
            <a:pathLst>
              <a:path h="8454914" w="7862349">
                <a:moveTo>
                  <a:pt x="7862348" y="0"/>
                </a:moveTo>
                <a:lnTo>
                  <a:pt x="0" y="0"/>
                </a:lnTo>
                <a:lnTo>
                  <a:pt x="0" y="8454914"/>
                </a:lnTo>
                <a:lnTo>
                  <a:pt x="7862348" y="8454914"/>
                </a:lnTo>
                <a:lnTo>
                  <a:pt x="7862348" y="0"/>
                </a:lnTo>
                <a:close/>
              </a:path>
            </a:pathLst>
          </a:custGeom>
          <a:blipFill>
            <a:blip r:embed="rId3"/>
            <a:stretch>
              <a:fillRect l="0" t="0" r="0" b="-39487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5782181" y="4964347"/>
            <a:ext cx="5356971" cy="0"/>
          </a:xfrm>
          <a:prstGeom prst="line">
            <a:avLst/>
          </a:prstGeom>
          <a:ln cap="flat" w="9525">
            <a:solidFill>
              <a:srgbClr val="727BB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1549270" y="5412013"/>
            <a:ext cx="2794883" cy="743286"/>
            <a:chOff x="0" y="0"/>
            <a:chExt cx="519098" cy="1380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9098" cy="138052"/>
            </a:xfrm>
            <a:custGeom>
              <a:avLst/>
              <a:gdLst/>
              <a:ahLst/>
              <a:cxnLst/>
              <a:rect r="r" b="b" t="t" l="l"/>
              <a:pathLst>
                <a:path h="138052" w="519098">
                  <a:moveTo>
                    <a:pt x="69026" y="0"/>
                  </a:moveTo>
                  <a:lnTo>
                    <a:pt x="450072" y="0"/>
                  </a:lnTo>
                  <a:cubicBezTo>
                    <a:pt x="468379" y="0"/>
                    <a:pt x="485936" y="7272"/>
                    <a:pt x="498881" y="20217"/>
                  </a:cubicBezTo>
                  <a:cubicBezTo>
                    <a:pt x="511826" y="33162"/>
                    <a:pt x="519098" y="50719"/>
                    <a:pt x="519098" y="69026"/>
                  </a:cubicBezTo>
                  <a:lnTo>
                    <a:pt x="519098" y="69026"/>
                  </a:lnTo>
                  <a:cubicBezTo>
                    <a:pt x="519098" y="87333"/>
                    <a:pt x="511826" y="104890"/>
                    <a:pt x="498881" y="117835"/>
                  </a:cubicBezTo>
                  <a:cubicBezTo>
                    <a:pt x="485936" y="130779"/>
                    <a:pt x="468379" y="138052"/>
                    <a:pt x="450072" y="138052"/>
                  </a:cubicBezTo>
                  <a:lnTo>
                    <a:pt x="69026" y="138052"/>
                  </a:lnTo>
                  <a:cubicBezTo>
                    <a:pt x="50719" y="138052"/>
                    <a:pt x="33162" y="130779"/>
                    <a:pt x="20217" y="117835"/>
                  </a:cubicBezTo>
                  <a:cubicBezTo>
                    <a:pt x="7272" y="104890"/>
                    <a:pt x="0" y="87333"/>
                    <a:pt x="0" y="69026"/>
                  </a:cubicBezTo>
                  <a:lnTo>
                    <a:pt x="0" y="69026"/>
                  </a:lnTo>
                  <a:cubicBezTo>
                    <a:pt x="0" y="50719"/>
                    <a:pt x="7272" y="33162"/>
                    <a:pt x="20217" y="20217"/>
                  </a:cubicBezTo>
                  <a:cubicBezTo>
                    <a:pt x="33162" y="7272"/>
                    <a:pt x="50719" y="0"/>
                    <a:pt x="69026" y="0"/>
                  </a:cubicBezTo>
                  <a:close/>
                </a:path>
              </a:pathLst>
            </a:custGeom>
            <a:solidFill>
              <a:srgbClr val="427BF3">
                <a:alpha val="1882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19098" cy="18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549270" y="6562756"/>
            <a:ext cx="2794883" cy="743286"/>
            <a:chOff x="0" y="0"/>
            <a:chExt cx="519098" cy="1380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9098" cy="138052"/>
            </a:xfrm>
            <a:custGeom>
              <a:avLst/>
              <a:gdLst/>
              <a:ahLst/>
              <a:cxnLst/>
              <a:rect r="r" b="b" t="t" l="l"/>
              <a:pathLst>
                <a:path h="138052" w="519098">
                  <a:moveTo>
                    <a:pt x="69026" y="0"/>
                  </a:moveTo>
                  <a:lnTo>
                    <a:pt x="450072" y="0"/>
                  </a:lnTo>
                  <a:cubicBezTo>
                    <a:pt x="468379" y="0"/>
                    <a:pt x="485936" y="7272"/>
                    <a:pt x="498881" y="20217"/>
                  </a:cubicBezTo>
                  <a:cubicBezTo>
                    <a:pt x="511826" y="33162"/>
                    <a:pt x="519098" y="50719"/>
                    <a:pt x="519098" y="69026"/>
                  </a:cubicBezTo>
                  <a:lnTo>
                    <a:pt x="519098" y="69026"/>
                  </a:lnTo>
                  <a:cubicBezTo>
                    <a:pt x="519098" y="87333"/>
                    <a:pt x="511826" y="104890"/>
                    <a:pt x="498881" y="117835"/>
                  </a:cubicBezTo>
                  <a:cubicBezTo>
                    <a:pt x="485936" y="130779"/>
                    <a:pt x="468379" y="138052"/>
                    <a:pt x="450072" y="138052"/>
                  </a:cubicBezTo>
                  <a:lnTo>
                    <a:pt x="69026" y="138052"/>
                  </a:lnTo>
                  <a:cubicBezTo>
                    <a:pt x="50719" y="138052"/>
                    <a:pt x="33162" y="130779"/>
                    <a:pt x="20217" y="117835"/>
                  </a:cubicBezTo>
                  <a:cubicBezTo>
                    <a:pt x="7272" y="104890"/>
                    <a:pt x="0" y="87333"/>
                    <a:pt x="0" y="69026"/>
                  </a:cubicBezTo>
                  <a:lnTo>
                    <a:pt x="0" y="69026"/>
                  </a:lnTo>
                  <a:cubicBezTo>
                    <a:pt x="0" y="50719"/>
                    <a:pt x="7272" y="33162"/>
                    <a:pt x="20217" y="20217"/>
                  </a:cubicBezTo>
                  <a:cubicBezTo>
                    <a:pt x="33162" y="7272"/>
                    <a:pt x="50719" y="0"/>
                    <a:pt x="69026" y="0"/>
                  </a:cubicBezTo>
                  <a:close/>
                </a:path>
              </a:pathLst>
            </a:custGeom>
            <a:solidFill>
              <a:srgbClr val="427BF3">
                <a:alpha val="1882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19098" cy="18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464417" y="5412013"/>
            <a:ext cx="2794883" cy="743286"/>
            <a:chOff x="0" y="0"/>
            <a:chExt cx="519098" cy="1380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9098" cy="138052"/>
            </a:xfrm>
            <a:custGeom>
              <a:avLst/>
              <a:gdLst/>
              <a:ahLst/>
              <a:cxnLst/>
              <a:rect r="r" b="b" t="t" l="l"/>
              <a:pathLst>
                <a:path h="138052" w="519098">
                  <a:moveTo>
                    <a:pt x="69026" y="0"/>
                  </a:moveTo>
                  <a:lnTo>
                    <a:pt x="450072" y="0"/>
                  </a:lnTo>
                  <a:cubicBezTo>
                    <a:pt x="468379" y="0"/>
                    <a:pt x="485936" y="7272"/>
                    <a:pt x="498881" y="20217"/>
                  </a:cubicBezTo>
                  <a:cubicBezTo>
                    <a:pt x="511826" y="33162"/>
                    <a:pt x="519098" y="50719"/>
                    <a:pt x="519098" y="69026"/>
                  </a:cubicBezTo>
                  <a:lnTo>
                    <a:pt x="519098" y="69026"/>
                  </a:lnTo>
                  <a:cubicBezTo>
                    <a:pt x="519098" y="87333"/>
                    <a:pt x="511826" y="104890"/>
                    <a:pt x="498881" y="117835"/>
                  </a:cubicBezTo>
                  <a:cubicBezTo>
                    <a:pt x="485936" y="130779"/>
                    <a:pt x="468379" y="138052"/>
                    <a:pt x="450072" y="138052"/>
                  </a:cubicBezTo>
                  <a:lnTo>
                    <a:pt x="69026" y="138052"/>
                  </a:lnTo>
                  <a:cubicBezTo>
                    <a:pt x="50719" y="138052"/>
                    <a:pt x="33162" y="130779"/>
                    <a:pt x="20217" y="117835"/>
                  </a:cubicBezTo>
                  <a:cubicBezTo>
                    <a:pt x="7272" y="104890"/>
                    <a:pt x="0" y="87333"/>
                    <a:pt x="0" y="69026"/>
                  </a:cubicBezTo>
                  <a:lnTo>
                    <a:pt x="0" y="69026"/>
                  </a:lnTo>
                  <a:cubicBezTo>
                    <a:pt x="0" y="50719"/>
                    <a:pt x="7272" y="33162"/>
                    <a:pt x="20217" y="20217"/>
                  </a:cubicBezTo>
                  <a:cubicBezTo>
                    <a:pt x="33162" y="7272"/>
                    <a:pt x="50719" y="0"/>
                    <a:pt x="69026" y="0"/>
                  </a:cubicBezTo>
                  <a:close/>
                </a:path>
              </a:pathLst>
            </a:custGeom>
            <a:solidFill>
              <a:srgbClr val="427BF3">
                <a:alpha val="1882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519098" cy="18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4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621168" y="5092935"/>
            <a:ext cx="5157754" cy="3044823"/>
            <a:chOff x="0" y="0"/>
            <a:chExt cx="1061266" cy="6265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1266" cy="626507"/>
            </a:xfrm>
            <a:custGeom>
              <a:avLst/>
              <a:gdLst/>
              <a:ahLst/>
              <a:cxnLst/>
              <a:rect r="r" b="b" t="t" l="l"/>
              <a:pathLst>
                <a:path h="626507" w="1061266">
                  <a:moveTo>
                    <a:pt x="985066" y="0"/>
                  </a:moveTo>
                  <a:cubicBezTo>
                    <a:pt x="1023166" y="0"/>
                    <a:pt x="1061266" y="25400"/>
                    <a:pt x="1061266" y="63500"/>
                  </a:cubicBezTo>
                  <a:lnTo>
                    <a:pt x="1061266" y="423307"/>
                  </a:lnTo>
                  <a:cubicBezTo>
                    <a:pt x="1061266" y="461407"/>
                    <a:pt x="1023166" y="499507"/>
                    <a:pt x="985066" y="499507"/>
                  </a:cubicBezTo>
                  <a:lnTo>
                    <a:pt x="266700" y="499507"/>
                  </a:lnTo>
                  <a:lnTo>
                    <a:pt x="127000" y="626507"/>
                  </a:lnTo>
                  <a:lnTo>
                    <a:pt x="127000" y="499507"/>
                  </a:lnTo>
                  <a:lnTo>
                    <a:pt x="76200" y="499507"/>
                  </a:lnTo>
                  <a:cubicBezTo>
                    <a:pt x="38100" y="499507"/>
                    <a:pt x="0" y="461407"/>
                    <a:pt x="0" y="423307"/>
                  </a:cubicBezTo>
                  <a:lnTo>
                    <a:pt x="0" y="63500"/>
                  </a:lnTo>
                  <a:cubicBezTo>
                    <a:pt x="0" y="25400"/>
                    <a:pt x="38100" y="0"/>
                    <a:pt x="76200" y="0"/>
                  </a:cubicBezTo>
                  <a:lnTo>
                    <a:pt x="985066" y="0"/>
                  </a:lnTo>
                  <a:close/>
                </a:path>
              </a:pathLst>
            </a:custGeom>
            <a:solidFill>
              <a:srgbClr val="427BF3">
                <a:alpha val="20784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63500" y="15875"/>
              <a:ext cx="934266" cy="4201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4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962025"/>
            <a:ext cx="10011889" cy="1807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4"/>
              </a:lnSpc>
            </a:pPr>
            <a:r>
              <a:rPr lang="en-US" sz="3460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인</a:t>
            </a:r>
            <a:r>
              <a:rPr lang="en-US" sz="3460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력을 늘리지 않고도,</a:t>
            </a:r>
          </a:p>
          <a:p>
            <a:pPr algn="l">
              <a:lnSpc>
                <a:spcPts val="4844"/>
              </a:lnSpc>
            </a:pPr>
            <a:r>
              <a:rPr lang="en-US" sz="3460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현장을 </a:t>
            </a:r>
            <a:r>
              <a:rPr lang="en-US" sz="3460" b="true">
                <a:solidFill>
                  <a:srgbClr val="0052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더 효율적으로 파악</a:t>
            </a:r>
            <a:r>
              <a:rPr lang="en-US" sz="3460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할 수 있어야 합니다</a:t>
            </a:r>
          </a:p>
          <a:p>
            <a:pPr algn="l">
              <a:lnSpc>
                <a:spcPts val="4844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328940" y="178634"/>
            <a:ext cx="363736" cy="405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6"/>
              </a:lnSpc>
              <a:spcBef>
                <a:spcPct val="0"/>
              </a:spcBef>
            </a:pPr>
            <a:r>
              <a:rPr lang="en-US" b="true" sz="2426">
                <a:solidFill>
                  <a:srgbClr val="3173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-1396136" y="195208"/>
            <a:ext cx="6492240" cy="719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4"/>
              </a:lnSpc>
            </a:pPr>
            <a:r>
              <a:rPr lang="en-US" sz="2060" b="true">
                <a:solidFill>
                  <a:srgbClr val="727BB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| </a:t>
            </a:r>
            <a:r>
              <a:rPr lang="en-US" sz="2060" b="true">
                <a:solidFill>
                  <a:srgbClr val="3173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USER &amp; NEEDS</a:t>
            </a:r>
          </a:p>
          <a:p>
            <a:pPr algn="ctr">
              <a:lnSpc>
                <a:spcPts val="2884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2236208"/>
            <a:ext cx="10011889" cy="56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660">
                <a:solidFill>
                  <a:srgbClr val="727BB8"/>
                </a:solidFill>
                <a:latin typeface="Noto Sans Kr"/>
                <a:ea typeface="Noto Sans Kr"/>
                <a:cs typeface="Noto Sans Kr"/>
                <a:sym typeface="Noto Sans Kr"/>
              </a:rPr>
              <a:t>현장에서는 수많은 변수가 존재합니다</a:t>
            </a:r>
          </a:p>
          <a:p>
            <a:pPr algn="l">
              <a:lnSpc>
                <a:spcPts val="2324"/>
              </a:lnSpc>
              <a:spcBef>
                <a:spcPct val="0"/>
              </a:spcBef>
            </a:pPr>
            <a:r>
              <a:rPr lang="en-US" sz="1660">
                <a:solidFill>
                  <a:srgbClr val="727BB8"/>
                </a:solidFill>
                <a:latin typeface="Noto Sans Kr"/>
                <a:ea typeface="Noto Sans Kr"/>
                <a:cs typeface="Noto Sans Kr"/>
                <a:sym typeface="Noto Sans Kr"/>
              </a:rPr>
              <a:t>대행사 대표는 제한된 인력으로도 빠르고 정확한 대응이 필요합니다.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737247" y="3628336"/>
            <a:ext cx="1173895" cy="576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2"/>
              </a:lnSpc>
              <a:spcBef>
                <a:spcPct val="0"/>
              </a:spcBef>
            </a:pPr>
            <a:r>
              <a:rPr lang="en-US" b="true" sz="3373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김OO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332907" y="4290169"/>
            <a:ext cx="6939760" cy="325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1"/>
              </a:lnSpc>
              <a:spcBef>
                <a:spcPct val="0"/>
              </a:spcBef>
            </a:pPr>
            <a:r>
              <a:rPr lang="en-US" sz="1958">
                <a:solidFill>
                  <a:srgbClr val="727BB8"/>
                </a:solidFill>
                <a:latin typeface="Noto Sans Kr"/>
                <a:ea typeface="Noto Sans Kr"/>
                <a:cs typeface="Noto Sans Kr"/>
                <a:sym typeface="Noto Sans Kr"/>
              </a:rPr>
              <a:t>50대 후반  |  공연,축제 기획 대행사 대표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782181" y="5364388"/>
            <a:ext cx="4875518" cy="1736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6"/>
              </a:lnSpc>
            </a:pPr>
            <a:r>
              <a:rPr lang="en-US" sz="2497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안전사고는 단순한 현장 문제가 아닌다음</a:t>
            </a:r>
            <a:r>
              <a:rPr lang="en-US" sz="2497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</a:t>
            </a:r>
            <a:r>
              <a:rPr lang="en-US" sz="2497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입찰</a:t>
            </a:r>
            <a:r>
              <a:rPr lang="en-US" sz="2497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에서 </a:t>
            </a:r>
          </a:p>
          <a:p>
            <a:pPr algn="l">
              <a:lnSpc>
                <a:spcPts val="3496"/>
              </a:lnSpc>
            </a:pPr>
            <a:r>
              <a:rPr lang="en-US" sz="2497" b="true">
                <a:solidFill>
                  <a:srgbClr val="0052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우리 회사 신뢰가 깨지는 문제입니다</a:t>
            </a:r>
          </a:p>
          <a:p>
            <a:pPr algn="l">
              <a:lnSpc>
                <a:spcPts val="3496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1549270" y="4696689"/>
            <a:ext cx="1177932" cy="35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6"/>
              </a:lnSpc>
              <a:spcBef>
                <a:spcPct val="0"/>
              </a:spcBef>
            </a:pPr>
            <a:r>
              <a:rPr lang="en-US" b="true" sz="2076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주요 고민</a:t>
            </a:r>
            <a:r>
              <a:rPr lang="en-US" b="true" sz="2076">
                <a:solidFill>
                  <a:srgbClr val="727BB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765357" y="5584923"/>
            <a:ext cx="2362710" cy="35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6"/>
              </a:lnSpc>
              <a:spcBef>
                <a:spcPct val="0"/>
              </a:spcBef>
            </a:pPr>
            <a:r>
              <a:rPr lang="en-US" b="true" sz="2076">
                <a:solidFill>
                  <a:srgbClr val="0052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수많은 현장 인력 관리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680503" y="5582662"/>
            <a:ext cx="2362710" cy="35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6"/>
              </a:lnSpc>
              <a:spcBef>
                <a:spcPct val="0"/>
              </a:spcBef>
            </a:pPr>
            <a:r>
              <a:rPr lang="en-US" b="true" sz="2076">
                <a:solidFill>
                  <a:srgbClr val="0052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사고 발생시 책임 부담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886643" y="6733405"/>
            <a:ext cx="2120138" cy="35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6"/>
              </a:lnSpc>
              <a:spcBef>
                <a:spcPct val="0"/>
              </a:spcBef>
            </a:pPr>
            <a:r>
              <a:rPr lang="en-US" b="true" sz="2076">
                <a:solidFill>
                  <a:srgbClr val="0052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전문 인력 비용 부담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85627"/>
            <a:ext cx="18288000" cy="12387901"/>
          </a:xfrm>
          <a:custGeom>
            <a:avLst/>
            <a:gdLst/>
            <a:ahLst/>
            <a:cxnLst/>
            <a:rect r="r" b="b" t="t" l="l"/>
            <a:pathLst>
              <a:path h="12387901" w="18288000">
                <a:moveTo>
                  <a:pt x="0" y="0"/>
                </a:moveTo>
                <a:lnTo>
                  <a:pt x="18288000" y="0"/>
                </a:lnTo>
                <a:lnTo>
                  <a:pt x="18288000" y="12387901"/>
                </a:lnTo>
                <a:lnTo>
                  <a:pt x="0" y="123879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06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5170" y="1760949"/>
            <a:ext cx="17297660" cy="7992165"/>
          </a:xfrm>
          <a:custGeom>
            <a:avLst/>
            <a:gdLst/>
            <a:ahLst/>
            <a:cxnLst/>
            <a:rect r="r" b="b" t="t" l="l"/>
            <a:pathLst>
              <a:path h="7992165" w="17297660">
                <a:moveTo>
                  <a:pt x="0" y="0"/>
                </a:moveTo>
                <a:lnTo>
                  <a:pt x="17297660" y="0"/>
                </a:lnTo>
                <a:lnTo>
                  <a:pt x="17297660" y="7992165"/>
                </a:lnTo>
                <a:lnTo>
                  <a:pt x="0" y="79921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1743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48472" y="9210675"/>
            <a:ext cx="7583101" cy="719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4827" indent="-222414" lvl="1">
              <a:lnSpc>
                <a:spcPts val="288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6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2025</a:t>
            </a:r>
            <a:r>
              <a:rPr lang="en-US" b="true" sz="206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양양송이연어축제 운영 대행 용역 입찰 제안요청서 中 </a:t>
            </a:r>
          </a:p>
          <a:p>
            <a:pPr algn="ctr">
              <a:lnSpc>
                <a:spcPts val="2884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28940" y="178634"/>
            <a:ext cx="363736" cy="405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6"/>
              </a:lnSpc>
              <a:spcBef>
                <a:spcPct val="0"/>
              </a:spcBef>
            </a:pPr>
            <a:r>
              <a:rPr lang="en-US" b="true" sz="2426">
                <a:solidFill>
                  <a:srgbClr val="3173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03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692170" y="205337"/>
            <a:ext cx="6492240" cy="718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727BB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| </a:t>
            </a:r>
            <a:r>
              <a:rPr lang="en-US" sz="2100" b="true">
                <a:solidFill>
                  <a:srgbClr val="427BF3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solution</a:t>
            </a:r>
          </a:p>
          <a:p>
            <a:pPr algn="ctr">
              <a:lnSpc>
                <a:spcPts val="2884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06478" y="1014450"/>
            <a:ext cx="9554502" cy="74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4"/>
              </a:lnSpc>
              <a:spcBef>
                <a:spcPct val="0"/>
              </a:spcBef>
            </a:pPr>
            <a:r>
              <a:rPr lang="en-US" b="true" sz="4360">
                <a:solidFill>
                  <a:srgbClr val="0052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더 효율적으로,더 간단한</a:t>
            </a:r>
            <a:r>
              <a:rPr lang="en-US" b="true" sz="436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현장 보고 체계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60895"/>
            <a:ext cx="18288000" cy="12648796"/>
          </a:xfrm>
          <a:custGeom>
            <a:avLst/>
            <a:gdLst/>
            <a:ahLst/>
            <a:cxnLst/>
            <a:rect r="r" b="b" t="t" l="l"/>
            <a:pathLst>
              <a:path h="12648796" w="18288000">
                <a:moveTo>
                  <a:pt x="0" y="0"/>
                </a:moveTo>
                <a:lnTo>
                  <a:pt x="18288000" y="0"/>
                </a:lnTo>
                <a:lnTo>
                  <a:pt x="18288000" y="12648796"/>
                </a:lnTo>
                <a:lnTo>
                  <a:pt x="0" y="12648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37746" y="2138050"/>
            <a:ext cx="3751505" cy="6960624"/>
          </a:xfrm>
          <a:custGeom>
            <a:avLst/>
            <a:gdLst/>
            <a:ahLst/>
            <a:cxnLst/>
            <a:rect r="r" b="b" t="t" l="l"/>
            <a:pathLst>
              <a:path h="6960624" w="3751505">
                <a:moveTo>
                  <a:pt x="0" y="0"/>
                </a:moveTo>
                <a:lnTo>
                  <a:pt x="3751505" y="0"/>
                </a:lnTo>
                <a:lnTo>
                  <a:pt x="3751505" y="6960624"/>
                </a:lnTo>
                <a:lnTo>
                  <a:pt x="0" y="69606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17932" y="2053703"/>
            <a:ext cx="3690535" cy="7460072"/>
          </a:xfrm>
          <a:custGeom>
            <a:avLst/>
            <a:gdLst/>
            <a:ahLst/>
            <a:cxnLst/>
            <a:rect r="r" b="b" t="t" l="l"/>
            <a:pathLst>
              <a:path h="7460072" w="3690535">
                <a:moveTo>
                  <a:pt x="0" y="0"/>
                </a:moveTo>
                <a:lnTo>
                  <a:pt x="3690534" y="0"/>
                </a:lnTo>
                <a:lnTo>
                  <a:pt x="3690534" y="7460072"/>
                </a:lnTo>
                <a:lnTo>
                  <a:pt x="0" y="74600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525665" y="1901257"/>
            <a:ext cx="3733635" cy="6892702"/>
          </a:xfrm>
          <a:custGeom>
            <a:avLst/>
            <a:gdLst/>
            <a:ahLst/>
            <a:cxnLst/>
            <a:rect r="r" b="b" t="t" l="l"/>
            <a:pathLst>
              <a:path h="6892702" w="3733635">
                <a:moveTo>
                  <a:pt x="0" y="0"/>
                </a:moveTo>
                <a:lnTo>
                  <a:pt x="3733635" y="0"/>
                </a:lnTo>
                <a:lnTo>
                  <a:pt x="3733635" y="6892703"/>
                </a:lnTo>
                <a:lnTo>
                  <a:pt x="0" y="68927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94" t="0" r="-1094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392483" y="1526476"/>
            <a:ext cx="1528390" cy="1223148"/>
          </a:xfrm>
          <a:custGeom>
            <a:avLst/>
            <a:gdLst/>
            <a:ahLst/>
            <a:cxnLst/>
            <a:rect r="r" b="b" t="t" l="l"/>
            <a:pathLst>
              <a:path h="1223148" w="1528390">
                <a:moveTo>
                  <a:pt x="1528390" y="0"/>
                </a:moveTo>
                <a:lnTo>
                  <a:pt x="0" y="0"/>
                </a:lnTo>
                <a:lnTo>
                  <a:pt x="0" y="1223148"/>
                </a:lnTo>
                <a:lnTo>
                  <a:pt x="1528390" y="1223148"/>
                </a:lnTo>
                <a:lnTo>
                  <a:pt x="152839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5828" y="2717165"/>
            <a:ext cx="3139197" cy="6076794"/>
          </a:xfrm>
          <a:custGeom>
            <a:avLst/>
            <a:gdLst/>
            <a:ahLst/>
            <a:cxnLst/>
            <a:rect r="r" b="b" t="t" l="l"/>
            <a:pathLst>
              <a:path h="6076794" w="3139197">
                <a:moveTo>
                  <a:pt x="0" y="0"/>
                </a:moveTo>
                <a:lnTo>
                  <a:pt x="3139197" y="0"/>
                </a:lnTo>
                <a:lnTo>
                  <a:pt x="3139197" y="6076795"/>
                </a:lnTo>
                <a:lnTo>
                  <a:pt x="0" y="60767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559410" y="5385684"/>
            <a:ext cx="465355" cy="46535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B1D0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55575"/>
              <a:ext cx="7112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4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85402" y="914369"/>
            <a:ext cx="10703935" cy="143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4"/>
              </a:lnSpc>
            </a:pPr>
            <a:r>
              <a:rPr lang="en-US" sz="2760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행사장이 낯선 일일 담당자도</a:t>
            </a:r>
          </a:p>
          <a:p>
            <a:pPr algn="l">
              <a:lnSpc>
                <a:spcPts val="3864"/>
              </a:lnSpc>
              <a:spcBef>
                <a:spcPct val="0"/>
              </a:spcBef>
            </a:pPr>
            <a:r>
              <a:rPr lang="en-US" b="true" sz="2760">
                <a:solidFill>
                  <a:srgbClr val="0052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위치·음성·</a:t>
            </a:r>
            <a:r>
              <a:rPr lang="en-US" b="true" sz="2760">
                <a:solidFill>
                  <a:srgbClr val="0052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텍스트로</a:t>
            </a:r>
            <a:r>
              <a:rPr lang="en-US" b="true" sz="276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간편하게 신고하고, 직접 확인해 정확하게 전달합니다.</a:t>
            </a:r>
          </a:p>
          <a:p>
            <a:pPr algn="l">
              <a:lnSpc>
                <a:spcPts val="3864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36190" y="236793"/>
            <a:ext cx="1585020" cy="357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4"/>
              </a:lnSpc>
              <a:spcBef>
                <a:spcPct val="0"/>
              </a:spcBef>
            </a:pPr>
            <a:r>
              <a:rPr lang="en-US" b="true" sz="2060">
                <a:solidFill>
                  <a:srgbClr val="3173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04</a:t>
            </a:r>
            <a:r>
              <a:rPr lang="en-US" b="true" sz="206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</a:t>
            </a:r>
            <a:r>
              <a:rPr lang="en-US" b="true" sz="2060">
                <a:solidFill>
                  <a:srgbClr val="727BB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|</a:t>
            </a:r>
            <a:r>
              <a:rPr lang="en-US" b="true" sz="206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</a:t>
            </a:r>
            <a:r>
              <a:rPr lang="en-US" b="true" sz="2060">
                <a:solidFill>
                  <a:srgbClr val="3173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SERVICE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889251" y="5385684"/>
            <a:ext cx="465355" cy="46535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C2DA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55575"/>
              <a:ext cx="7112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4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108466" y="5385684"/>
            <a:ext cx="465355" cy="46535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C2DA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155575"/>
              <a:ext cx="7112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4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60895"/>
            <a:ext cx="18288000" cy="12648796"/>
          </a:xfrm>
          <a:custGeom>
            <a:avLst/>
            <a:gdLst/>
            <a:ahLst/>
            <a:cxnLst/>
            <a:rect r="r" b="b" t="t" l="l"/>
            <a:pathLst>
              <a:path h="12648796" w="18288000">
                <a:moveTo>
                  <a:pt x="0" y="0"/>
                </a:moveTo>
                <a:lnTo>
                  <a:pt x="18288000" y="0"/>
                </a:lnTo>
                <a:lnTo>
                  <a:pt x="18288000" y="12648796"/>
                </a:lnTo>
                <a:lnTo>
                  <a:pt x="0" y="12648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53471" y="3142913"/>
            <a:ext cx="5882875" cy="4178571"/>
          </a:xfrm>
          <a:custGeom>
            <a:avLst/>
            <a:gdLst/>
            <a:ahLst/>
            <a:cxnLst/>
            <a:rect r="r" b="b" t="t" l="l"/>
            <a:pathLst>
              <a:path h="4178571" w="5882875">
                <a:moveTo>
                  <a:pt x="0" y="0"/>
                </a:moveTo>
                <a:lnTo>
                  <a:pt x="5882875" y="0"/>
                </a:lnTo>
                <a:lnTo>
                  <a:pt x="5882875" y="4178571"/>
                </a:lnTo>
                <a:lnTo>
                  <a:pt x="0" y="4178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428366" y="2005653"/>
            <a:ext cx="4657245" cy="6734939"/>
          </a:xfrm>
          <a:custGeom>
            <a:avLst/>
            <a:gdLst/>
            <a:ahLst/>
            <a:cxnLst/>
            <a:rect r="r" b="b" t="t" l="l"/>
            <a:pathLst>
              <a:path h="6734939" w="4657245">
                <a:moveTo>
                  <a:pt x="0" y="0"/>
                </a:moveTo>
                <a:lnTo>
                  <a:pt x="4657245" y="0"/>
                </a:lnTo>
                <a:lnTo>
                  <a:pt x="4657245" y="6734938"/>
                </a:lnTo>
                <a:lnTo>
                  <a:pt x="0" y="67349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7638" y="3374751"/>
            <a:ext cx="5618126" cy="3946733"/>
          </a:xfrm>
          <a:custGeom>
            <a:avLst/>
            <a:gdLst/>
            <a:ahLst/>
            <a:cxnLst/>
            <a:rect r="r" b="b" t="t" l="l"/>
            <a:pathLst>
              <a:path h="3946733" w="5618126">
                <a:moveTo>
                  <a:pt x="0" y="0"/>
                </a:moveTo>
                <a:lnTo>
                  <a:pt x="5618125" y="0"/>
                </a:lnTo>
                <a:lnTo>
                  <a:pt x="5618125" y="3946733"/>
                </a:lnTo>
                <a:lnTo>
                  <a:pt x="0" y="39467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159071" y="5125922"/>
            <a:ext cx="494400" cy="4944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C2D9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55575"/>
              <a:ext cx="7112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4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41905" y="1370130"/>
            <a:ext cx="7687121" cy="949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4"/>
              </a:lnSpc>
            </a:pPr>
            <a:r>
              <a:rPr lang="en-US" sz="2760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관리자가 신고를 확인하고 책임 업무를 </a:t>
            </a:r>
            <a:r>
              <a:rPr lang="en-US" sz="2760" b="true">
                <a:solidFill>
                  <a:srgbClr val="0052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선택하고 조치</a:t>
            </a:r>
            <a:r>
              <a:rPr lang="en-US" sz="2760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,</a:t>
            </a:r>
          </a:p>
          <a:p>
            <a:pPr algn="l">
              <a:lnSpc>
                <a:spcPts val="3864"/>
              </a:lnSpc>
              <a:spcBef>
                <a:spcPct val="0"/>
              </a:spcBef>
            </a:pPr>
            <a:r>
              <a:rPr lang="en-US" b="true" sz="276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다음 입찰까지 </a:t>
            </a:r>
            <a:r>
              <a:rPr lang="en-US" b="true" sz="2760">
                <a:solidFill>
                  <a:srgbClr val="0052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레포트를 통해</a:t>
            </a:r>
            <a:r>
              <a:rPr lang="en-US" b="true" sz="276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도와줍니다.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6190" y="236793"/>
            <a:ext cx="1585020" cy="357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4"/>
              </a:lnSpc>
              <a:spcBef>
                <a:spcPct val="0"/>
              </a:spcBef>
            </a:pPr>
            <a:r>
              <a:rPr lang="en-US" b="true" sz="2060">
                <a:solidFill>
                  <a:srgbClr val="3173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04</a:t>
            </a:r>
            <a:r>
              <a:rPr lang="en-US" b="true" sz="206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</a:t>
            </a:r>
            <a:r>
              <a:rPr lang="en-US" b="true" sz="2060">
                <a:solidFill>
                  <a:srgbClr val="727BB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|</a:t>
            </a:r>
            <a:r>
              <a:rPr lang="en-US" b="true" sz="206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</a:t>
            </a:r>
            <a:r>
              <a:rPr lang="en-US" b="true" sz="2060">
                <a:solidFill>
                  <a:srgbClr val="3173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SERVICE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660171" y="5100918"/>
            <a:ext cx="494400" cy="49440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C2D9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55575"/>
              <a:ext cx="7112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4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60895"/>
            <a:ext cx="18288000" cy="12648796"/>
          </a:xfrm>
          <a:custGeom>
            <a:avLst/>
            <a:gdLst/>
            <a:ahLst/>
            <a:cxnLst/>
            <a:rect r="r" b="b" t="t" l="l"/>
            <a:pathLst>
              <a:path h="12648796" w="18288000">
                <a:moveTo>
                  <a:pt x="0" y="0"/>
                </a:moveTo>
                <a:lnTo>
                  <a:pt x="18288000" y="0"/>
                </a:lnTo>
                <a:lnTo>
                  <a:pt x="18288000" y="12648796"/>
                </a:lnTo>
                <a:lnTo>
                  <a:pt x="0" y="12648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2560320" y="1028700"/>
            <a:ext cx="13167360" cy="82296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04913" y="187444"/>
            <a:ext cx="2430661" cy="357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4"/>
              </a:lnSpc>
              <a:spcBef>
                <a:spcPct val="0"/>
              </a:spcBef>
            </a:pPr>
            <a:r>
              <a:rPr lang="en-US" b="true" sz="2060">
                <a:solidFill>
                  <a:srgbClr val="3173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04</a:t>
            </a:r>
            <a:r>
              <a:rPr lang="en-US" b="true" sz="206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</a:t>
            </a:r>
            <a:r>
              <a:rPr lang="en-US" b="true" sz="2060">
                <a:solidFill>
                  <a:srgbClr val="727BB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|</a:t>
            </a:r>
            <a:r>
              <a:rPr lang="en-US" b="true" sz="206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</a:t>
            </a:r>
            <a:r>
              <a:rPr lang="en-US" b="true" sz="2060">
                <a:solidFill>
                  <a:srgbClr val="3173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SERVICE DEMO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4900" y="672029"/>
            <a:ext cx="4407694" cy="463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4"/>
              </a:lnSpc>
              <a:spcBef>
                <a:spcPct val="0"/>
              </a:spcBef>
            </a:pPr>
            <a:r>
              <a:rPr lang="en-US" b="true" sz="2760">
                <a:solidFill>
                  <a:srgbClr val="0052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ONCUE</a:t>
            </a:r>
            <a:r>
              <a:rPr lang="en-US" b="true" sz="276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는 이렇게</a:t>
            </a:r>
            <a:r>
              <a:rPr lang="en-US" b="true" sz="276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작동합니다.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08343" cy="10287000"/>
          </a:xfrm>
          <a:custGeom>
            <a:avLst/>
            <a:gdLst/>
            <a:ahLst/>
            <a:cxnLst/>
            <a:rect r="r" b="b" t="t" l="l"/>
            <a:pathLst>
              <a:path h="10287000" w="18308343">
                <a:moveTo>
                  <a:pt x="0" y="0"/>
                </a:moveTo>
                <a:lnTo>
                  <a:pt x="18308343" y="0"/>
                </a:lnTo>
                <a:lnTo>
                  <a:pt x="1830834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1082" y="153306"/>
            <a:ext cx="1938040" cy="37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3173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05 </a:t>
            </a:r>
            <a:r>
              <a:rPr lang="en-US" b="true" sz="2200">
                <a:solidFill>
                  <a:srgbClr val="727BB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|</a:t>
            </a:r>
            <a:r>
              <a:rPr lang="en-US" b="true" sz="2200">
                <a:solidFill>
                  <a:srgbClr val="3173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BUSINESS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60895"/>
            <a:ext cx="18288000" cy="12648796"/>
          </a:xfrm>
          <a:custGeom>
            <a:avLst/>
            <a:gdLst/>
            <a:ahLst/>
            <a:cxnLst/>
            <a:rect r="r" b="b" t="t" l="l"/>
            <a:pathLst>
              <a:path h="12648796" w="18288000">
                <a:moveTo>
                  <a:pt x="0" y="0"/>
                </a:moveTo>
                <a:lnTo>
                  <a:pt x="18288000" y="0"/>
                </a:lnTo>
                <a:lnTo>
                  <a:pt x="18288000" y="12648796"/>
                </a:lnTo>
                <a:lnTo>
                  <a:pt x="0" y="12648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2723" y="1028700"/>
            <a:ext cx="7200802" cy="6997005"/>
          </a:xfrm>
          <a:custGeom>
            <a:avLst/>
            <a:gdLst/>
            <a:ahLst/>
            <a:cxnLst/>
            <a:rect r="r" b="b" t="t" l="l"/>
            <a:pathLst>
              <a:path h="6997005" w="7200802">
                <a:moveTo>
                  <a:pt x="0" y="0"/>
                </a:moveTo>
                <a:lnTo>
                  <a:pt x="7200802" y="0"/>
                </a:lnTo>
                <a:lnTo>
                  <a:pt x="7200802" y="6997005"/>
                </a:lnTo>
                <a:lnTo>
                  <a:pt x="0" y="69970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857253" y="4431953"/>
            <a:ext cx="3248323" cy="935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84"/>
              </a:lnSpc>
              <a:spcBef>
                <a:spcPct val="0"/>
              </a:spcBef>
            </a:pPr>
            <a:r>
              <a:rPr lang="en-US" b="true" sz="5560">
                <a:solidFill>
                  <a:srgbClr val="0052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DAHU2Zc4AEg</dc:identifier>
  <dcterms:modified xsi:type="dcterms:W3CDTF">2011-08-01T06:04:30Z</dcterms:modified>
  <cp:revision>1</cp:revision>
  <dc:title>해커톤 최종</dc:title>
</cp:coreProperties>
</file>